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3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Relationship Id="rId9" Type="http://schemas.openxmlformats.org/officeDocument/2006/relationships/image" Target="../media/image38.png"/><Relationship Id="rId10" Type="http://schemas.openxmlformats.org/officeDocument/2006/relationships/image" Target="../media/image39.png"/><Relationship Id="rId11" Type="http://schemas.openxmlformats.org/officeDocument/2006/relationships/image" Target="../media/image40.png"/><Relationship Id="rId12" Type="http://schemas.openxmlformats.org/officeDocument/2006/relationships/image" Target="../media/image41.png"/><Relationship Id="rId13" Type="http://schemas.openxmlformats.org/officeDocument/2006/relationships/image" Target="../media/image42.png"/><Relationship Id="rId14" Type="http://schemas.openxmlformats.org/officeDocument/2006/relationships/image" Target="../media/image4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Relationship Id="rId8" Type="http://schemas.openxmlformats.org/officeDocument/2006/relationships/image" Target="../media/image49.png"/><Relationship Id="rId9" Type="http://schemas.openxmlformats.org/officeDocument/2006/relationships/image" Target="../media/image50.png"/><Relationship Id="rId10" Type="http://schemas.openxmlformats.org/officeDocument/2006/relationships/image" Target="../media/image51.png"/><Relationship Id="rId11" Type="http://schemas.openxmlformats.org/officeDocument/2006/relationships/image" Target="../media/image52.png"/><Relationship Id="rId12" Type="http://schemas.openxmlformats.org/officeDocument/2006/relationships/image" Target="../media/image5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54.png"/><Relationship Id="rId8" Type="http://schemas.openxmlformats.org/officeDocument/2006/relationships/image" Target="../media/image55.png"/><Relationship Id="rId9" Type="http://schemas.openxmlformats.org/officeDocument/2006/relationships/image" Target="../media/image56.png"/><Relationship Id="rId10" Type="http://schemas.openxmlformats.org/officeDocument/2006/relationships/image" Target="../media/image57.png"/><Relationship Id="rId11" Type="http://schemas.openxmlformats.org/officeDocument/2006/relationships/image" Target="../media/image58.png"/><Relationship Id="rId12" Type="http://schemas.openxmlformats.org/officeDocument/2006/relationships/image" Target="../media/image59.png"/><Relationship Id="rId13" Type="http://schemas.openxmlformats.org/officeDocument/2006/relationships/image" Target="../media/image60.png"/><Relationship Id="rId14" Type="http://schemas.openxmlformats.org/officeDocument/2006/relationships/image" Target="../media/image61.png"/><Relationship Id="rId15" Type="http://schemas.openxmlformats.org/officeDocument/2006/relationships/image" Target="../media/image62.png"/><Relationship Id="rId16" Type="http://schemas.openxmlformats.org/officeDocument/2006/relationships/image" Target="../media/image63.png"/><Relationship Id="rId17" Type="http://schemas.openxmlformats.org/officeDocument/2006/relationships/image" Target="../media/image64.png"/><Relationship Id="rId18" Type="http://schemas.openxmlformats.org/officeDocument/2006/relationships/image" Target="../media/image6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Relationship Id="rId6" Type="http://schemas.openxmlformats.org/officeDocument/2006/relationships/image" Target="../media/image69.png"/><Relationship Id="rId7" Type="http://schemas.openxmlformats.org/officeDocument/2006/relationships/image" Target="../media/image70.png"/><Relationship Id="rId8" Type="http://schemas.openxmlformats.org/officeDocument/2006/relationships/image" Target="../media/image71.png"/><Relationship Id="rId9" Type="http://schemas.openxmlformats.org/officeDocument/2006/relationships/image" Target="../media/image72.png"/><Relationship Id="rId10" Type="http://schemas.openxmlformats.org/officeDocument/2006/relationships/image" Target="../media/image73.png"/><Relationship Id="rId11" Type="http://schemas.openxmlformats.org/officeDocument/2006/relationships/image" Target="../media/image74.png"/><Relationship Id="rId12" Type="http://schemas.openxmlformats.org/officeDocument/2006/relationships/image" Target="../media/image75.png"/><Relationship Id="rId13" Type="http://schemas.openxmlformats.org/officeDocument/2006/relationships/image" Target="../media/image76.png"/><Relationship Id="rId14" Type="http://schemas.openxmlformats.org/officeDocument/2006/relationships/image" Target="../media/image77.png"/><Relationship Id="rId15" Type="http://schemas.openxmlformats.org/officeDocument/2006/relationships/image" Target="../media/image78.png"/><Relationship Id="rId16" Type="http://schemas.openxmlformats.org/officeDocument/2006/relationships/image" Target="../media/image7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0.png"/><Relationship Id="rId4" Type="http://schemas.openxmlformats.org/officeDocument/2006/relationships/image" Target="../media/image81.png"/><Relationship Id="rId5" Type="http://schemas.openxmlformats.org/officeDocument/2006/relationships/image" Target="../media/image82.png"/><Relationship Id="rId6" Type="http://schemas.openxmlformats.org/officeDocument/2006/relationships/image" Target="../media/image83.png"/><Relationship Id="rId7" Type="http://schemas.openxmlformats.org/officeDocument/2006/relationships/image" Target="../media/image84.png"/><Relationship Id="rId8" Type="http://schemas.openxmlformats.org/officeDocument/2006/relationships/image" Target="../media/image85.png"/><Relationship Id="rId9" Type="http://schemas.openxmlformats.org/officeDocument/2006/relationships/image" Target="../media/image86.png"/><Relationship Id="rId10" Type="http://schemas.openxmlformats.org/officeDocument/2006/relationships/image" Target="../media/image87.png"/><Relationship Id="rId11" Type="http://schemas.openxmlformats.org/officeDocument/2006/relationships/image" Target="../media/image88.png"/><Relationship Id="rId12" Type="http://schemas.openxmlformats.org/officeDocument/2006/relationships/image" Target="../media/image89.png"/><Relationship Id="rId13" Type="http://schemas.openxmlformats.org/officeDocument/2006/relationships/image" Target="../media/image90.png"/><Relationship Id="rId14" Type="http://schemas.openxmlformats.org/officeDocument/2006/relationships/image" Target="../media/image91.png"/><Relationship Id="rId15" Type="http://schemas.openxmlformats.org/officeDocument/2006/relationships/image" Target="../media/image92.png"/><Relationship Id="rId16" Type="http://schemas.openxmlformats.org/officeDocument/2006/relationships/image" Target="../media/image93.png"/><Relationship Id="rId17" Type="http://schemas.openxmlformats.org/officeDocument/2006/relationships/image" Target="../media/image94.png"/><Relationship Id="rId18" Type="http://schemas.openxmlformats.org/officeDocument/2006/relationships/image" Target="../media/image9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6.png"/><Relationship Id="rId4" Type="http://schemas.openxmlformats.org/officeDocument/2006/relationships/image" Target="../media/image97.png"/><Relationship Id="rId5" Type="http://schemas.openxmlformats.org/officeDocument/2006/relationships/image" Target="../media/image98.png"/><Relationship Id="rId6" Type="http://schemas.openxmlformats.org/officeDocument/2006/relationships/image" Target="../media/image99.png"/><Relationship Id="rId7" Type="http://schemas.openxmlformats.org/officeDocument/2006/relationships/image" Target="../media/image100.png"/><Relationship Id="rId8" Type="http://schemas.openxmlformats.org/officeDocument/2006/relationships/image" Target="../media/image10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2.png"/><Relationship Id="rId4" Type="http://schemas.openxmlformats.org/officeDocument/2006/relationships/image" Target="../media/image10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4.png"/><Relationship Id="rId4" Type="http://schemas.openxmlformats.org/officeDocument/2006/relationships/image" Target="../media/image10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1150" y="2598539"/>
            <a:ext cx="9029700" cy="150480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8935" y="1988939"/>
            <a:ext cx="4454128" cy="285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81250" y="4389090"/>
            <a:ext cx="74295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b="0" sz="1350" i="0" u="none">
                <a:solidFill>
                  <a:srgbClr val="64748B"/>
                </a:solidFill>
                <a:latin typeface="Plus Jakarta Sans"/>
              </a:rPr>
              <a:t>Beginning our learning journey with pure intention, continuous dedication, and sincere pursuit of beneficial knowledge.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0860" y="2074664"/>
            <a:ext cx="112514" cy="1238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914525" y="2836664"/>
            <a:ext cx="8401050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b="0" sz="1950" i="0" u="none">
                <a:solidFill>
                  <a:srgbClr val="0F172A"/>
                </a:solidFill>
                <a:latin typeface="Amiri"/>
              </a:rPr>
              <a:t>« مَنْ سَلَكَ طَرِيقًا يَلْتَمِسُ فِيهِ عِلْمًا سَهَّلَ اللَّهُ لَهُ بِهِ طَرِيقًا إِلَى الْجَنَّةِ 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14525" y="3347144"/>
            <a:ext cx="8401050" cy="2485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b="0" sz="1350" i="0" u="none">
                <a:solidFill>
                  <a:srgbClr val="1E293B"/>
                </a:solidFill>
                <a:latin typeface="Plus Jakarta Sans SemiBold"/>
              </a:rPr>
              <a:t>"Whoever takes a path upon which he seeks knowledge, Allah makes the path to Paradise easy for him."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14525" y="3671887"/>
            <a:ext cx="8401050" cy="193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22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— Sahih Muslim (Hadith 2699)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5616" y="2611933"/>
            <a:ext cx="3280618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95425" y="3069133"/>
            <a:ext cx="9201150" cy="525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140"/>
              </a:lnSpc>
            </a:pPr>
            <a:r>
              <a:rPr b="0" sz="3600" i="0" u="none">
                <a:solidFill>
                  <a:srgbClr val="0F172A"/>
                </a:solidFill>
                <a:latin typeface="Plus Jakarta Sans ExtraBold"/>
              </a:rPr>
              <a:t>Variables, Data Types &amp; Core Primitives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0750" y="3766244"/>
            <a:ext cx="78105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b="0" sz="1350" i="0" u="none">
                <a:solidFill>
                  <a:srgbClr val="64748B"/>
                </a:solidFill>
                <a:latin typeface="Plus Jakarta Sans"/>
              </a:rPr>
              <a:t>A rigorous masterclass for aspiring data scientists covering execution fundamentals, input/output pipelines, memory identifiers, data representations, operators, and type conversion.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541" y="2697658"/>
            <a:ext cx="112514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0712" y="2381250"/>
            <a:ext cx="2667000" cy="2667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350" y="2191940"/>
            <a:ext cx="3028950" cy="2000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29350" y="2468165"/>
            <a:ext cx="5750718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Plus Jakarta Sans"/>
              </a:rPr>
              <a:t>Welcome to the Course!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29350" y="2858690"/>
            <a:ext cx="5476875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I am excited to guide you through your journey to mastering computational thinking and data science using Python. Our mission is to build rock-solid foundational concepts that directly scale into Machine Learning and Deep Learning pipelines.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8812" y="2419350"/>
            <a:ext cx="2590800" cy="2590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34150" y="3820715"/>
            <a:ext cx="5172075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125" i="0" u="none">
                <a:solidFill>
                  <a:srgbClr val="475569"/>
                </a:solidFill>
                <a:latin typeface="Plus Jakarta Sans"/>
              </a:rPr>
              <a:t>Real-World Focus: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Transition directly from syntax to data-driven decision making.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4150" y="4368403"/>
            <a:ext cx="5172075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125" i="0" u="none">
                <a:solidFill>
                  <a:srgbClr val="475569"/>
                </a:solidFill>
                <a:latin typeface="Plus Jakarta Sans"/>
              </a:rPr>
              <a:t>Hands-on Pedagogy: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Live coding, interactive notebooks, and edge-case drills.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4150" y="4916090"/>
            <a:ext cx="5172075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125" i="0" u="none">
                <a:solidFill>
                  <a:srgbClr val="475569"/>
                </a:solidFill>
                <a:latin typeface="Plus Jakarta Sans"/>
              </a:rPr>
              <a:t>Rigorous Standards: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Clean, performant, and Pythonic coding conventions.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9350" y="3835003"/>
            <a:ext cx="171450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9350" y="4382690"/>
            <a:ext cx="171450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9350" y="4930378"/>
            <a:ext cx="171450" cy="1809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85775" y="428625"/>
            <a:ext cx="11706225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250" i="0" u="none">
                <a:solidFill>
                  <a:srgbClr val="0F172A"/>
                </a:solidFill>
                <a:latin typeface="Plus Jakarta Sans"/>
              </a:rPr>
              <a:t>Instructor Introduction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5775" y="790575"/>
            <a:ext cx="5715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667000"/>
            <a:ext cx="3613100" cy="2095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9375" y="2667000"/>
            <a:ext cx="3613100" cy="2095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975" y="2667000"/>
            <a:ext cx="3613100" cy="2095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867025"/>
            <a:ext cx="4572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3438525"/>
            <a:ext cx="3373702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Plus Jakarta Sans"/>
              </a:rPr>
              <a:t>Google Colab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733800"/>
            <a:ext cx="3213050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Zero-configuration cloud Jupyter environment with free GPU/TPU accelerators and instant Google Drive synchronization for deep learning pipelines.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9400" y="2867025"/>
            <a:ext cx="4572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489400" y="3438525"/>
            <a:ext cx="3373702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Plus Jakarta Sans"/>
              </a:rPr>
              <a:t>Jupyter Notebook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9400" y="3733800"/>
            <a:ext cx="3213050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The industry benchmark for Exploratory Data Analysis (EDA). Execute modular code cells, inspect tables, and plot charts inline seamlessly.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3000" y="2867025"/>
            <a:ext cx="457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93000" y="3438525"/>
            <a:ext cx="3373702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Plus Jakarta Sans"/>
              </a:rPr>
              <a:t>VS Code / Anaconda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000" y="3733800"/>
            <a:ext cx="3213050" cy="621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Full-featured local development platform equipped with linters, Git version control, unit testing, and virtual environment management.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7237" y="2971800"/>
            <a:ext cx="314325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9887" y="2971800"/>
            <a:ext cx="276225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64438" y="2971800"/>
            <a:ext cx="314325" cy="2476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85775" y="428625"/>
            <a:ext cx="11706225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250" i="0" u="none">
                <a:solidFill>
                  <a:srgbClr val="0F172A"/>
                </a:solidFill>
                <a:latin typeface="Plus Jakarta Sans"/>
              </a:rPr>
              <a:t>Course Development Stack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5775" y="790575"/>
            <a:ext cx="5715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266652"/>
            <a:ext cx="5534025" cy="136713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266652"/>
            <a:ext cx="5534025" cy="136713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3786187"/>
            <a:ext cx="5534025" cy="137666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3786187"/>
            <a:ext cx="5534025" cy="137666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" y="3082825"/>
            <a:ext cx="5210175" cy="408086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4125" y="2903339"/>
            <a:ext cx="5210175" cy="587573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" y="4432399"/>
            <a:ext cx="5210175" cy="587573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34125" y="4432399"/>
            <a:ext cx="5210175" cy="58757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85825" y="2409527"/>
            <a:ext cx="5220652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1. Basic Literal &amp; 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" y="2718345"/>
            <a:ext cx="5210175" cy="1794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64748B"/>
                </a:solidFill>
                <a:latin typeface="Plus Jakarta Sans"/>
              </a:rPr>
              <a:t>Output single strings and numerical values directly to console.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72250" y="2409527"/>
            <a:ext cx="5220652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2. Multi-Argument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4125" y="2628602"/>
            <a:ext cx="5210175" cy="1794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64748B"/>
                </a:solidFill>
                <a:latin typeface="Plus Jakarta Sans"/>
              </a:rPr>
              <a:t>Pass multiple values separated by commas (defaults to space separator).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675" y="3929062"/>
            <a:ext cx="5280660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3. Inline Arithmetic Evaluation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" y="4152900"/>
            <a:ext cx="5210175" cy="1794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64748B"/>
                </a:solidFill>
                <a:latin typeface="Plus Jakarta Sans"/>
              </a:rPr>
              <a:t>Directly evaluate mathematical and string repetition expressions.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200" y="3929062"/>
            <a:ext cx="5240655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4. Custom Separators &amp; 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4125" y="4148137"/>
            <a:ext cx="5210175" cy="1890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64748B"/>
                </a:solidFill>
                <a:latin typeface="Plus Jakarta Sans"/>
              </a:rPr>
              <a:t>Customize the delimiter () and the trailing character ().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" y="2428577"/>
            <a:ext cx="161925" cy="1428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34125" y="2428577"/>
            <a:ext cx="161925" cy="1428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7700" y="3948112"/>
            <a:ext cx="104775" cy="1428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34125" y="3948112"/>
            <a:ext cx="142875" cy="1428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81925" y="4138612"/>
            <a:ext cx="361950" cy="2000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667875" y="4138612"/>
            <a:ext cx="361950" cy="20002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85775" y="428625"/>
            <a:ext cx="11706225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250" i="0" u="none">
                <a:solidFill>
                  <a:srgbClr val="0F172A"/>
                </a:solidFill>
                <a:latin typeface="Plus Jakarta Sans"/>
              </a:rPr>
              <a:t>4 Core Examples: The print() Function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5775" y="790575"/>
            <a:ext cx="5715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3581697"/>
            <a:ext cx="5476875" cy="58757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350" y="2000250"/>
            <a:ext cx="5476875" cy="3429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5775" y="2000250"/>
            <a:ext cx="5476875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A variable is a named pointer to a memory address holding a value. Python dynamically binds data types at runtime.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2009775"/>
            <a:ext cx="5457825" cy="34099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0575" y="2528887"/>
            <a:ext cx="5172075" cy="2175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125" i="0" u="none">
                <a:solidFill>
                  <a:srgbClr val="475569"/>
                </a:solidFill>
                <a:latin typeface="Plus Jakarta Sans"/>
              </a:rPr>
              <a:t>Case Sensitive: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and are distinct.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575" y="2879824"/>
            <a:ext cx="5172075" cy="2175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125" i="0" u="none">
                <a:solidFill>
                  <a:srgbClr val="475569"/>
                </a:solidFill>
                <a:latin typeface="Plus Jakarta Sans"/>
              </a:rPr>
              <a:t>Valid Identifiers: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Must begin with a letter (, ) or underscore ().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575" y="3230760"/>
            <a:ext cx="5172075" cy="2175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125" i="0" u="none">
                <a:solidFill>
                  <a:srgbClr val="475569"/>
                </a:solidFill>
                <a:latin typeface="Plus Jakarta Sans"/>
              </a:rPr>
              <a:t>Invalid: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Cannot start with a digit () or contain symbols ().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2547937"/>
            <a:ext cx="112395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2800" y="2547937"/>
            <a:ext cx="112395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00450" y="2898874"/>
            <a:ext cx="36195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29075" y="2898874"/>
            <a:ext cx="361950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0" y="2898874"/>
            <a:ext cx="209550" cy="2000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38475" y="3249810"/>
            <a:ext cx="438150" cy="2000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14900" y="3249810"/>
            <a:ext cx="819150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5775" y="2543175"/>
            <a:ext cx="152400" cy="1809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5775" y="2894111"/>
            <a:ext cx="152400" cy="1809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5775" y="3245048"/>
            <a:ext cx="123825" cy="18097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85775" y="428625"/>
            <a:ext cx="11706225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250" i="0" u="none">
                <a:solidFill>
                  <a:srgbClr val="0F172A"/>
                </a:solidFill>
                <a:latin typeface="Plus Jakarta Sans"/>
              </a:rPr>
              <a:t>Variables &amp; Memory Referencing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5775" y="790575"/>
            <a:ext cx="5715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85775" y="2354907"/>
            <a:ext cx="11220450" cy="2719536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85775" y="2354907"/>
          <a:ext cx="11210924" cy="2719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558230"/>
                <a:gridCol w="1381869"/>
                <a:gridCol w="2961233"/>
                <a:gridCol w="5309592"/>
              </a:tblGrid>
              <a:tr h="453256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Data Type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Keyword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Example Value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Data Science Application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453256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Integer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int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42, -500, 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Epoch count, cluster IDs, discrete indices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3256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Float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float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3.14159, -0.05, 98.6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Loss metrics, probabilities, continuous weights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53256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String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str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"Active", 'Class_1'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NLP text corpus, feature column labels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3256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Boolean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bool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True, False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Masking arrays, early stopping flags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53256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NoneType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None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None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Missing data placeholders (NaN representation)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90537" y="2781597"/>
            <a:ext cx="15582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48767" y="2781597"/>
            <a:ext cx="13818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30637" y="2781597"/>
            <a:ext cx="296123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91870" y="2781597"/>
            <a:ext cx="53095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90537" y="3237309"/>
            <a:ext cx="15582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48767" y="3237309"/>
            <a:ext cx="13818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30637" y="3237309"/>
            <a:ext cx="296123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91870" y="3237309"/>
            <a:ext cx="53095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0537" y="3693021"/>
            <a:ext cx="15582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48767" y="3693021"/>
            <a:ext cx="13818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30637" y="3693021"/>
            <a:ext cx="296123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91870" y="3693021"/>
            <a:ext cx="53095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0537" y="4148732"/>
            <a:ext cx="15582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048767" y="4148732"/>
            <a:ext cx="13818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30637" y="4148732"/>
            <a:ext cx="296123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91870" y="4148732"/>
            <a:ext cx="53095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0537" y="4604444"/>
            <a:ext cx="15582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048767" y="4604444"/>
            <a:ext cx="13818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30637" y="4604444"/>
            <a:ext cx="296123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91870" y="4604444"/>
            <a:ext cx="53095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0217" y="2929235"/>
            <a:ext cx="361950" cy="20002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2087" y="2929235"/>
            <a:ext cx="971550" cy="20002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0217" y="3384946"/>
            <a:ext cx="514350" cy="20002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2087" y="3384946"/>
            <a:ext cx="1657350" cy="20002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20217" y="3840658"/>
            <a:ext cx="361950" cy="20002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02087" y="3840658"/>
            <a:ext cx="1581150" cy="20002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20217" y="4296370"/>
            <a:ext cx="438150" cy="20002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02087" y="4296370"/>
            <a:ext cx="971550" cy="20002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20217" y="4752082"/>
            <a:ext cx="438150" cy="20002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02087" y="4752082"/>
            <a:ext cx="438150" cy="20002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85775" y="428625"/>
            <a:ext cx="11706225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250" i="0" u="none">
                <a:solidFill>
                  <a:srgbClr val="0F172A"/>
                </a:solidFill>
                <a:latin typeface="Plus Jakarta Sans"/>
              </a:rPr>
              <a:t>Core Primitive Data Types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5775" y="790575"/>
            <a:ext cx="5715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266652"/>
            <a:ext cx="5534025" cy="136713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266652"/>
            <a:ext cx="5534025" cy="136713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3786187"/>
            <a:ext cx="5534025" cy="137666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3786187"/>
            <a:ext cx="5534025" cy="137666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" y="2903339"/>
            <a:ext cx="5210175" cy="587573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4125" y="3082825"/>
            <a:ext cx="5210175" cy="408086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" y="4432399"/>
            <a:ext cx="5210175" cy="587573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34125" y="4432399"/>
            <a:ext cx="5210175" cy="58757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8675" y="2409527"/>
            <a:ext cx="5280660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1. Standard Arithmetic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" y="2628602"/>
            <a:ext cx="5210175" cy="1794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64748B"/>
                </a:solidFill>
                <a:latin typeface="Plus Jakarta Sans"/>
              </a:rPr>
              <a:t>Addition, subtraction, and multiplication for numerical computation.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3675" y="2409527"/>
            <a:ext cx="5250656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2. Floating vs Floor Division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4125" y="2713583"/>
            <a:ext cx="5210175" cy="1890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64748B"/>
                </a:solidFill>
                <a:latin typeface="Plus Jakarta Sans"/>
              </a:rPr>
              <a:t>returns float; truncates to nearest integer.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775" y="3929062"/>
            <a:ext cx="5240655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3. Power &amp; Modulo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" y="4148137"/>
            <a:ext cx="5210175" cy="1890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64748B"/>
                </a:solidFill>
                <a:latin typeface="Plus Jakarta Sans"/>
              </a:rPr>
              <a:t>computes exponents; returns the remainder.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4150" y="3929062"/>
            <a:ext cx="5260657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4. Compound Assignment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4125" y="4152900"/>
            <a:ext cx="5210175" cy="1794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64748B"/>
                </a:solidFill>
                <a:latin typeface="Plus Jakarta Sans"/>
              </a:rPr>
              <a:t>In-place updates used extensively in iterative optimization.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" y="2428577"/>
            <a:ext cx="104775" cy="1428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34125" y="2428577"/>
            <a:ext cx="133350" cy="1428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34125" y="2704058"/>
            <a:ext cx="209550" cy="2000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15200" y="2704058"/>
            <a:ext cx="285750" cy="2000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7700" y="3948112"/>
            <a:ext cx="142875" cy="1428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7700" y="4138612"/>
            <a:ext cx="285750" cy="2000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276475" y="4138612"/>
            <a:ext cx="209550" cy="20002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34125" y="3948112"/>
            <a:ext cx="123825" cy="1428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85775" y="428625"/>
            <a:ext cx="11706225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250" i="0" u="none">
                <a:solidFill>
                  <a:srgbClr val="0F172A"/>
                </a:solidFill>
                <a:latin typeface="Plus Jakarta Sans"/>
              </a:rPr>
              <a:t>4 Core Examples: Python Operators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5775" y="790575"/>
            <a:ext cx="5715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176908"/>
            <a:ext cx="5534025" cy="137666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176908"/>
            <a:ext cx="5534025" cy="137666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3705969"/>
            <a:ext cx="5534025" cy="154662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3705969"/>
            <a:ext cx="5534025" cy="1546621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" y="2823120"/>
            <a:ext cx="5210175" cy="587573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4125" y="2823120"/>
            <a:ext cx="5210175" cy="587573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" y="4522142"/>
            <a:ext cx="5210175" cy="587573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34125" y="4342655"/>
            <a:ext cx="5210175" cy="7670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7725" y="2319783"/>
            <a:ext cx="5260657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1. Logical 'and' (Both True)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" y="2538858"/>
            <a:ext cx="5210175" cy="1890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64748B"/>
                </a:solidFill>
                <a:latin typeface="Plus Jakarta Sans"/>
              </a:rPr>
              <a:t>Evaluates to only if ALL combined conditions hold true.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4150" y="2319783"/>
            <a:ext cx="5260657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2. Logical 'or' (At Least One)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4125" y="2538858"/>
            <a:ext cx="5210175" cy="1890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64748B"/>
                </a:solidFill>
                <a:latin typeface="Plus Jakarta Sans"/>
              </a:rPr>
              <a:t>Evaluates to if ANY condition is met.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775" y="3848844"/>
            <a:ext cx="5240655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3. Range Filtering with 'and'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" y="4157662"/>
            <a:ext cx="5210175" cy="1794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64748B"/>
                </a:solidFill>
                <a:latin typeface="Plus Jakarta Sans"/>
              </a:rPr>
              <a:t>Checking if a continuous metric lies within a target confidence band.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200" y="3848844"/>
            <a:ext cx="5240655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4. Combined 'and' / 'or' Rules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4125" y="4067919"/>
            <a:ext cx="5210175" cy="1794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64748B"/>
                </a:solidFill>
                <a:latin typeface="Plus Jakarta Sans"/>
              </a:rPr>
              <a:t>Complex decision boundary with operator precedence.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" y="2338833"/>
            <a:ext cx="123825" cy="1428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81125" y="2529333"/>
            <a:ext cx="438150" cy="2000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34125" y="2338833"/>
            <a:ext cx="123825" cy="1428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67550" y="2529333"/>
            <a:ext cx="438150" cy="2000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7700" y="3867894"/>
            <a:ext cx="142875" cy="1428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34125" y="3867894"/>
            <a:ext cx="142875" cy="14287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85775" y="428625"/>
            <a:ext cx="11706225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250" i="0" u="none">
                <a:solidFill>
                  <a:srgbClr val="0F172A"/>
                </a:solidFill>
                <a:latin typeface="Plus Jakarta Sans"/>
              </a:rPr>
              <a:t>4 Core Examples: Logical 'and' &amp; 'or'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5775" y="790575"/>
            <a:ext cx="5715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261889"/>
            <a:ext cx="5534025" cy="137666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261889"/>
            <a:ext cx="5534025" cy="137666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3790950"/>
            <a:ext cx="5534025" cy="137666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3790950"/>
            <a:ext cx="5534025" cy="137666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" y="2908101"/>
            <a:ext cx="5210175" cy="587573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4125" y="2908101"/>
            <a:ext cx="5210175" cy="587573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" y="4437161"/>
            <a:ext cx="5210175" cy="587573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34125" y="4437161"/>
            <a:ext cx="5210175" cy="58757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85825" y="2404764"/>
            <a:ext cx="5220652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1. Default String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" y="2623839"/>
            <a:ext cx="5210175" cy="1890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64748B"/>
                </a:solidFill>
                <a:latin typeface="Plus Jakarta Sans"/>
              </a:rPr>
              <a:t>Captures console input as a raw object by default.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72250" y="2404764"/>
            <a:ext cx="5220652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2. Integer Type Casting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4125" y="2623839"/>
            <a:ext cx="5210175" cy="1890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64748B"/>
                </a:solidFill>
                <a:latin typeface="Plus Jakarta Sans"/>
              </a:rPr>
              <a:t>Explicitly wraps in for discrete counts.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3933825"/>
            <a:ext cx="5270658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3. Float Metric 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" y="4152900"/>
            <a:ext cx="5210175" cy="1890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64748B"/>
                </a:solidFill>
                <a:latin typeface="Plus Jakarta Sans"/>
              </a:rPr>
              <a:t>Wraps input in to accept decimals and continuous parameters.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5100" y="3933825"/>
            <a:ext cx="5280660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4. Multi-Input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4125" y="4157662"/>
            <a:ext cx="5210175" cy="1794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64748B"/>
                </a:solidFill>
                <a:latin typeface="Plus Jakarta Sans"/>
              </a:rPr>
              <a:t>Sequential input ingestion for calculation workflows.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" y="2423814"/>
            <a:ext cx="161925" cy="1428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86025" y="2614314"/>
            <a:ext cx="361950" cy="2000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34125" y="2423814"/>
            <a:ext cx="161925" cy="1428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48525" y="2614314"/>
            <a:ext cx="666750" cy="2000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48625" y="2614314"/>
            <a:ext cx="514350" cy="2000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7700" y="3952875"/>
            <a:ext cx="114300" cy="1428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66850" y="4143375"/>
            <a:ext cx="666750" cy="20002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34125" y="3952875"/>
            <a:ext cx="104775" cy="1428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85775" y="428625"/>
            <a:ext cx="11706225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250" i="0" u="none">
                <a:solidFill>
                  <a:srgbClr val="0F172A"/>
                </a:solidFill>
                <a:latin typeface="Plus Jakarta Sans"/>
              </a:rPr>
              <a:t>4 Core Examples: The input() Function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5775" y="790575"/>
            <a:ext cx="5715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827139"/>
            <a:ext cx="5476875" cy="177522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350" y="2827139"/>
            <a:ext cx="5476875" cy="177522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3793926"/>
            <a:ext cx="5000625" cy="58757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7475" y="3814762"/>
            <a:ext cx="5000625" cy="5875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3900" y="3027164"/>
            <a:ext cx="5250656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563EB"/>
                </a:solidFill>
                <a:latin typeface="Plus Jakarta Sans"/>
              </a:rPr>
              <a:t>Implicit Conversion (Automatic)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900" y="3322439"/>
            <a:ext cx="5000625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Python automatically coerces types upward to prevent data and precision loss.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7475" y="3027164"/>
            <a:ext cx="5250656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563EB"/>
                </a:solidFill>
                <a:latin typeface="Plus Jakarta Sans"/>
              </a:rPr>
              <a:t>Explicit Casting (Manual)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7475" y="3322439"/>
            <a:ext cx="5000625" cy="4351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Forcibly convert types using built-in constructors , , 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48850" y="3341489"/>
            <a:ext cx="51435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9875" y="3341489"/>
            <a:ext cx="66675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7475" y="3559075"/>
            <a:ext cx="514350" cy="2000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85775" y="428625"/>
            <a:ext cx="11706225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250" i="0" u="none">
                <a:solidFill>
                  <a:srgbClr val="0F172A"/>
                </a:solidFill>
                <a:latin typeface="Plus Jakarta Sans"/>
              </a:rPr>
              <a:t>Type Conversion vs Type Casting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5775" y="790575"/>
            <a:ext cx="5715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7612" y="1735335"/>
            <a:ext cx="4676775" cy="5619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2887" y="428625"/>
            <a:ext cx="11706225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4200" i="0" u="none">
                <a:solidFill>
                  <a:srgbClr val="0F172A"/>
                </a:solidFill>
                <a:latin typeface="Plus Jakarta Sans ExtraBold"/>
              </a:rPr>
              <a:t>Questions &amp; Practice?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5775" y="1228725"/>
            <a:ext cx="11220450" cy="2399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b="0" sz="1350" i="0" u="none">
                <a:solidFill>
                  <a:srgbClr val="64748B"/>
                </a:solidFill>
                <a:latin typeface="Plus Jakarta Sans"/>
              </a:rPr>
              <a:t>Next Lecture: Strings Indexing, Slicing &amp; Conditional Branches (if-elif-else)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0037" y="1944885"/>
            <a:ext cx="1905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85775" y="2947987"/>
            <a:ext cx="112204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5775" y="3709987"/>
            <a:ext cx="112204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5775" y="3709987"/>
            <a:ext cx="112204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3090862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81150" y="3105001"/>
            <a:ext cx="10125075" cy="1794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https://parsers.me/wp-content/uploads/2019/09/1-Data-Scientist.png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81150" y="3332112"/>
            <a:ext cx="10125075" cy="220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parsers.me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3862387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150" y="3876526"/>
            <a:ext cx="10125075" cy="1794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https://ischoolonline.berkeley.edu/wp-content/uploads/sites/37/2021/01/UCB-MIDS_Python-for-Data-Science_hero.jpg?w=1024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1150" y="4103637"/>
            <a:ext cx="10125075" cy="220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ischoolonline.berkeley.edu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5775" y="428625"/>
            <a:ext cx="11706225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250" i="0" u="none">
                <a:solidFill>
                  <a:srgbClr val="0F172A"/>
                </a:solidFill>
                <a:latin typeface="Plus Jakarta Sans"/>
              </a:rPr>
              <a:t>Image Sources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5775" y="790575"/>
            <a:ext cx="5715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