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75" y="2572642"/>
            <a:ext cx="367665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5446" y="3039367"/>
            <a:ext cx="8861107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0F172A"/>
                </a:solidFill>
                <a:latin typeface="Poppins"/>
              </a:rPr>
              <a:t>Strings &amp; Conditional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51808"/>
            <a:ext cx="11049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A comprehensive exploration of text data manipulation, indexing mechanics, built-in string methods, control flow architectures, and algorithmic problem-solving.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2648842"/>
            <a:ext cx="176212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0130" y="2698551"/>
            <a:ext cx="9151590" cy="88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b="0" sz="2400" i="0" u="none">
                <a:solidFill>
                  <a:srgbClr val="0F172A"/>
                </a:solidFill>
                <a:latin typeface="Poppins Medium"/>
              </a:rPr>
              <a:t>"Whoever travels a path in search of knowledge, Allah will make easy for him a path to Paradise."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380" y="3810892"/>
            <a:ext cx="972309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2563EB"/>
                </a:solidFill>
                <a:latin typeface="Inter SemiBold"/>
              </a:rPr>
              <a:t>— Prophet Muhammad ﷺ [Sahih Muslim 2699]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380" y="4410967"/>
            <a:ext cx="972309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Every technical discipline, from string algorithms to machine learning pipelines, is elevated when approached with the sincere intention of beneficial knowledge and serving humanity.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505" y="2889051"/>
            <a:ext cx="23812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6000" i="0" u="none">
                <a:solidFill>
                  <a:srgbClr val="93C5FD"/>
                </a:solidFill>
                <a:latin typeface="Poppins Medium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2250" y="3582292"/>
            <a:ext cx="23812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6000" i="0" u="none">
                <a:solidFill>
                  <a:srgbClr val="93C5FD"/>
                </a:solidFill>
                <a:latin typeface="Poppins Medium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Foundation of Knowledge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8830"/>
            <a:ext cx="5353050" cy="1059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81200"/>
            <a:ext cx="53530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81200"/>
            <a:ext cx="53530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 string is a sequential data type representing Unicode characters. In Python, strings can be declared using single, double, or triple quotes.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722191"/>
            <a:ext cx="53530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64748B"/>
                </a:solidFill>
                <a:latin typeface="Inter"/>
              </a:rPr>
              <a:t>Key Property: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Python strings are </a:t>
            </a:r>
            <a:r>
              <a:rPr b="0" sz="1050" i="1" u="none">
                <a:solidFill>
                  <a:srgbClr val="64748B"/>
                </a:solidFill>
                <a:latin typeface="Inter"/>
              </a:rPr>
              <a:t>immutable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; assigning to individual character indices (e.g. 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str[0] = 'a'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) raises a 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TypeError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2691705"/>
            <a:ext cx="31242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String declarations &amp; escape characters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6275" y="2691705"/>
            <a:ext cx="4572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'Apna'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2885033"/>
            <a:ext cx="685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"College"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6075" y="2885033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 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4275" y="2885033"/>
            <a:ext cx="1143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Concatenation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" y="3078360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2675" y="3078360"/>
            <a:ext cx="914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Output: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3078360"/>
            <a:ext cx="4953000" cy="374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Escape sequence for newline &amp; 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4475" y="3271688"/>
            <a:ext cx="1295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"Hello\n\tWorld!"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1990725"/>
            <a:ext cx="5334000" cy="3600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Strings: Creation &amp; Concatenation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74714"/>
            <a:ext cx="107061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Dual-Directional Indexing: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Python supports zero-based positive indexing (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0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to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n-1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from left to right) and negative indexing (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-1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down to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-n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from right to left).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28069"/>
            <a:ext cx="10706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Standard Slice Syntax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str[start : end]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Extracts a substring from index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start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up to but </a:t>
            </a:r>
            <a:r>
              <a:rPr b="0" sz="1200" i="1" u="none">
                <a:solidFill>
                  <a:srgbClr val="475569"/>
                </a:solidFill>
                <a:latin typeface="Inter"/>
              </a:rPr>
              <a:t>excluding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end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 For instance,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"ApnaCollege"[0:4]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evaluates to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"Apna"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0950"/>
            <a:ext cx="10706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Omitted Boundary Slices: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Omitting the starting index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str[:4]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defaults to index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0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while omitting the end index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str[4:]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slices completely to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len(str)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53830"/>
            <a:ext cx="107061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Negative Slicing Dynamics: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Slicing with negative indices like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str[-5:-1]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yields characters from index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-5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up to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-2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critical for reverse parsing text sequences.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526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5188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476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77642"/>
            <a:ext cx="2190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String Indexing &amp; Slicing Dynamics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5259"/>
            <a:ext cx="11049000" cy="343138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084784"/>
          <a:ext cx="11029948" cy="3412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57487"/>
                <a:gridCol w="4411860"/>
                <a:gridCol w="3860601"/>
              </a:tblGrid>
              <a:tr h="56872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Function Syntax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Description &amp; Mechanism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Example &amp; Return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6872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str.endswith(sub)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Returns 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True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 if the string terminates with the specified substring.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"i am coder".endswith("er")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 → 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True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872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str.capitalize()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Returns a copy with the 1st character capitalized without mutating original.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"coder".capitalize()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 → 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"Coder"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872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str.replace(old, new)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Substitutes all occurrences of 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old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 substring with 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new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"hello".replace("l", "p")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 → 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"heppo"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872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str.find(sub)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Returns the 1st index of substring; returns 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-1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 if not found.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"data science".find("sci")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 → 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8726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str.count(sub)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Computes the total frequency of occurrences of substring in string.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"banana".count("a")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 → 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530078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8512" y="2530078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0373" y="2530078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21111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8512" y="3211115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50373" y="3211115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3892153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8512" y="3892153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50373" y="3892153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351734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8512" y="4351734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50373" y="4351734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81131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8512" y="4811315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50373" y="4811315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Essential Python String Functions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9929"/>
            <a:ext cx="5353050" cy="25220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529929"/>
            <a:ext cx="5353050" cy="25220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745259"/>
            <a:ext cx="4800600" cy="10590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754784"/>
            <a:ext cx="4800600" cy="1059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768054"/>
            <a:ext cx="504063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Program 1: Name Length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77629"/>
            <a:ext cx="48006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Accept user's first name via input and display its exact character length: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2768054"/>
            <a:ext cx="504063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Program 2: Character Occurrence Counter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177629"/>
            <a:ext cx="48006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Find the count and frequency of symbol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'$'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in a given financial string: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888134"/>
            <a:ext cx="2057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Program 1: Input &amp; 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5700" y="3888134"/>
            <a:ext cx="381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3888134"/>
            <a:ext cx="4038600" cy="374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"Enter first name: 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4081462"/>
            <a:ext cx="381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1700" y="4081462"/>
            <a:ext cx="1524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"Length of name is:"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8100" y="4081462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081462"/>
            <a:ext cx="4267200" cy="374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Sample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4274790"/>
            <a:ext cx="2057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Enter first name: Shradha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4274790"/>
            <a:ext cx="4267200" cy="374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Output: Length of name is: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3897659"/>
            <a:ext cx="23622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Program 2: Occurrence Counter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3897659"/>
            <a:ext cx="4343400" cy="374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"Hi, $Iam the $ symbol $99.99"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5050" y="4090987"/>
            <a:ext cx="381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50" y="4090987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"$"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4284315"/>
            <a:ext cx="381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1850" y="4284315"/>
            <a:ext cx="1447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"Occurrences of $:"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850" y="4284315"/>
            <a:ext cx="1143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Sample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4650" y="4284315"/>
            <a:ext cx="4419600" cy="374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94A3B8"/>
                </a:solidFill>
                <a:latin typeface="Fira Code"/>
              </a:rPr>
              <a:t># Occurrences of $: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Hands-On Practice: String Programs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306" y="2505967"/>
            <a:ext cx="2719387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35617" y="2972692"/>
            <a:ext cx="6120765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750" i="0" u="none">
                <a:solidFill>
                  <a:srgbClr val="0F172A"/>
                </a:solidFill>
                <a:latin typeface="Poppins"/>
              </a:rPr>
              <a:t>Conditional Statements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88709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4115692"/>
            <a:ext cx="97155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Enabling program decision-making through boolean evaluation, multi-branching trees, and precise 4-space indentation rules in Python.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706" y="2582167"/>
            <a:ext cx="119062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4169"/>
            <a:ext cx="3530649" cy="2773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04169"/>
            <a:ext cx="3530649" cy="27734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04169"/>
            <a:ext cx="3530649" cy="27734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4389090"/>
            <a:ext cx="3092499" cy="37519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4379565"/>
            <a:ext cx="3092499" cy="54084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074" y="4379565"/>
            <a:ext cx="3092499" cy="3751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0575" y="3166169"/>
            <a:ext cx="324712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if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3575744"/>
            <a:ext cx="3092499" cy="71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Evaluates a primary boolean condition. If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True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, executes the indented code block; otherwise skips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824" y="3166169"/>
            <a:ext cx="324712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elif Ladder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824" y="3575744"/>
            <a:ext cx="3092499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Allows chained testing of multiple mutually exclusive conditions in sequential order until one matches.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9074" y="3166169"/>
            <a:ext cx="324712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else &amp; Nesting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9074" y="3575744"/>
            <a:ext cx="3092499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Default fallback branch when all above tests fail. Conditions can be nested within blocks for hierarchical logic.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689919"/>
            <a:ext cx="2286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" y="4493865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F472B6"/>
                </a:solidFill>
                <a:latin typeface="Fira Code SemiBold"/>
              </a:rPr>
              <a:t>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100" y="4493865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FBBF24"/>
                </a:solidFill>
                <a:latin typeface="Fira Code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493865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8850" y="4493865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4D399"/>
                </a:solidFill>
                <a:latin typeface="Fira Code"/>
              </a:rPr>
              <a:t>"Can vote"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9824" y="2689919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54599" y="4484340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F472B6"/>
                </a:solidFill>
                <a:latin typeface="Fira Code SemiBold"/>
              </a:rPr>
              <a:t>elif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049" y="4484340"/>
            <a:ext cx="533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4D399"/>
                </a:solidFill>
                <a:latin typeface="Fira Code"/>
              </a:rPr>
              <a:t>"yellow"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799" y="4484340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599" y="4484340"/>
            <a:ext cx="2466975" cy="3180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4D399"/>
                </a:solidFill>
                <a:latin typeface="Fira Code"/>
              </a:rPr>
              <a:t>"Look &amp; slow"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3849" y="4484340"/>
            <a:ext cx="266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F472B6"/>
                </a:solidFill>
                <a:latin typeface="Fira Code SemiBold"/>
              </a:rPr>
              <a:t>else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3899" y="4484340"/>
            <a:ext cx="333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3949" y="4484340"/>
            <a:ext cx="106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34D399"/>
                </a:solidFill>
                <a:latin typeface="Fira Code"/>
              </a:rPr>
              <a:t>"Stop / Default"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Conditional Execution Constructs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90688"/>
            <a:ext cx="3867150" cy="1800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0" y="3846611"/>
            <a:ext cx="6800850" cy="8657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185963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2563EB"/>
                </a:solidFill>
                <a:latin typeface="Poppins"/>
              </a:rPr>
              <a:t>90+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195613"/>
            <a:ext cx="3467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E3A8A"/>
                </a:solidFill>
                <a:latin typeface="Inter SemiBold"/>
              </a:rPr>
              <a:t>Grade 'A'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650" y="2869406"/>
            <a:ext cx="714089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Student Grading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650" y="3278981"/>
            <a:ext cx="68008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Demonstrates multi-branching conditional execution to map raw exam scores to academic performance tiers: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0225" y="3989486"/>
            <a:ext cx="381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float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7425" y="3989486"/>
            <a:ext cx="381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989486"/>
            <a:ext cx="1752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"Enter student marks: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5825" y="3989486"/>
            <a:ext cx="152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472B6"/>
                </a:solidFill>
                <a:latin typeface="Fira Code SemiBold"/>
              </a:rPr>
              <a:t>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0225" y="3989486"/>
            <a:ext cx="152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BBF24"/>
                </a:solidFill>
                <a:latin typeface="Fira Code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4625" y="3989486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"A"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9425" y="3989486"/>
            <a:ext cx="304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472B6"/>
                </a:solidFill>
                <a:latin typeface="Fira Code SemiBold"/>
              </a:rPr>
              <a:t>elif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9225" y="4182814"/>
            <a:ext cx="152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BBF24"/>
                </a:solidFill>
                <a:latin typeface="Fira Code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7825" y="4182814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472B6"/>
                </a:solidFill>
                <a:latin typeface="Fira Code SemiBold"/>
              </a:rPr>
              <a:t>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2225" y="4182814"/>
            <a:ext cx="152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BBF24"/>
                </a:solidFill>
                <a:latin typeface="Fira Code"/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6625" y="4182814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"B"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1425" y="4182814"/>
            <a:ext cx="304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472B6"/>
                </a:solidFill>
                <a:latin typeface="Fira Code SemiBold"/>
              </a:rPr>
              <a:t>elif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8225" y="4182814"/>
            <a:ext cx="152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BBF24"/>
                </a:solidFill>
                <a:latin typeface="Fira Code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6825" y="4182814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472B6"/>
                </a:solidFill>
                <a:latin typeface="Fira Code SemiBold"/>
              </a:rPr>
              <a:t>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1225" y="4182814"/>
            <a:ext cx="152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BBF24"/>
                </a:solidFill>
                <a:latin typeface="Fira Code"/>
              </a:rPr>
              <a:t>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5625" y="4182814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"C"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20425" y="4182814"/>
            <a:ext cx="304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F472B6"/>
                </a:solidFill>
                <a:latin typeface="Fira Code SemiBold"/>
              </a:rPr>
              <a:t>else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0225" y="4376142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5025" y="4376142"/>
            <a:ext cx="381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376142"/>
            <a:ext cx="1447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34D399"/>
                </a:solidFill>
                <a:latin typeface="Fira Code"/>
              </a:rPr>
              <a:t>"Calculated Grade:"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Grading Logic &amp; Indentation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7611"/>
            <a:ext cx="5353050" cy="24666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557611"/>
            <a:ext cx="5353050" cy="246667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782466"/>
            <a:ext cx="4800600" cy="10036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782466"/>
            <a:ext cx="4800600" cy="1003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795736"/>
            <a:ext cx="504063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Program 1: Even/Odd &amp; Multiple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05311"/>
            <a:ext cx="48006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Check parity and whether a number is divisible by 7 using the modulo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%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operator: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2795736"/>
            <a:ext cx="504063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3A8A"/>
                </a:solidFill>
                <a:latin typeface="Poppins SemiBold"/>
              </a:rPr>
              <a:t>Program 2: Greatest of Three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205311"/>
            <a:ext cx="48006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Determine the maximum among three numerical inputs using logical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and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operators: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900" y="3925341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0700" y="3925341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7900" y="3925341"/>
            <a:ext cx="1219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"Enter number: 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700" y="3925341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1" u="none">
                <a:solidFill>
                  <a:srgbClr val="94A3B8"/>
                </a:solidFill>
                <a:latin typeface="Fira Code"/>
              </a:rPr>
              <a:t># Parity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8700" y="3925341"/>
            <a:ext cx="152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472B6"/>
                </a:solidFill>
                <a:latin typeface="Fira Code SemiBold"/>
              </a:rPr>
              <a:t>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4104828"/>
            <a:ext cx="76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BBF24"/>
                </a:solidFill>
                <a:latin typeface="Fira Cod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9700" y="4104828"/>
            <a:ext cx="76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BBF24"/>
                </a:solidFill>
                <a:latin typeface="Fira Code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8300" y="4104828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5500" y="4104828"/>
            <a:ext cx="990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"Even number"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8500" y="4104828"/>
            <a:ext cx="304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472B6"/>
                </a:solidFill>
                <a:latin typeface="Fira Code SemiBold"/>
              </a:rPr>
              <a:t>else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5700" y="4104828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2900" y="4104828"/>
            <a:ext cx="914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"Odd number"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" y="4104828"/>
            <a:ext cx="4267200" cy="341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1" u="none">
                <a:solidFill>
                  <a:srgbClr val="94A3B8"/>
                </a:solidFill>
                <a:latin typeface="Fira Code"/>
              </a:rPr>
              <a:t># Multiple of 7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2700" y="4284315"/>
            <a:ext cx="152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472B6"/>
                </a:solidFill>
                <a:latin typeface="Fira Code SemiBold"/>
              </a:rPr>
              <a:t>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8500" y="4284315"/>
            <a:ext cx="76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BBF24"/>
                </a:solidFill>
                <a:latin typeface="Fira Code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9500" y="4284315"/>
            <a:ext cx="76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BBF24"/>
                </a:solidFill>
                <a:latin typeface="Fira Code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8100" y="4284315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" y="4284315"/>
            <a:ext cx="4191000" cy="341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"Multiple of 7"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9450" y="3925341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4250" y="3925341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1450" y="3925341"/>
            <a:ext cx="838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"Enter a: 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3050" y="3925341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7850" y="3925341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5050" y="3925341"/>
            <a:ext cx="838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"Enter b: 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7050" y="4104828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1850" y="4104828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9050" y="4104828"/>
            <a:ext cx="838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"Enter c: 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850" y="4104828"/>
            <a:ext cx="152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472B6"/>
                </a:solidFill>
                <a:latin typeface="Fira Code SemiBold"/>
              </a:rPr>
              <a:t>if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7850" y="4104828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472B6"/>
                </a:solidFill>
                <a:latin typeface="Fira Code SemiBold"/>
              </a:rPr>
              <a:t>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4650" y="4284315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81850" y="428431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"Largest is A:"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850" y="4284315"/>
            <a:ext cx="304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472B6"/>
                </a:solidFill>
                <a:latin typeface="Fira Code SemiBold"/>
              </a:rPr>
              <a:t>elif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450" y="4284315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4650" y="4284315"/>
            <a:ext cx="4267200" cy="341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"Largest is B:"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4250" y="4463801"/>
            <a:ext cx="304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F472B6"/>
                </a:solidFill>
                <a:latin typeface="Fira Code SemiBold"/>
              </a:rPr>
              <a:t>else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91450" y="4463801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8650" y="4463801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34D399"/>
                </a:solidFill>
                <a:latin typeface="Fira Code"/>
              </a:rPr>
              <a:t>"Largest is C:"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Algorithmic Practice Programs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6756"/>
            <a:ext cx="2430660" cy="11660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4029075"/>
            <a:ext cx="2430660" cy="11660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860" y="2377231"/>
            <a:ext cx="2430660" cy="1175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541" y="4029075"/>
            <a:ext cx="2430660" cy="11660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719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752" y="2529631"/>
            <a:ext cx="225215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1D4ED8"/>
                </a:solidFill>
                <a:latin typeface="Poppins SemiBold"/>
              </a:rPr>
              <a:t>1.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2834431"/>
            <a:ext cx="2144910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Raw text, CSV tokens, &amp; user strings ingested as immutable Python strings.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432" y="4171950"/>
            <a:ext cx="225215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1D4ED8"/>
                </a:solidFill>
                <a:latin typeface="Poppins SemiBold"/>
              </a:rPr>
              <a:t>2. Slicing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7055" y="4476750"/>
            <a:ext cx="2144910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Substring extraction, prefix/suffix trimming via positive &amp; negative slicing.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6113" y="2520106"/>
            <a:ext cx="225215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1D4ED8"/>
                </a:solidFill>
                <a:latin typeface="Poppins SemiBold"/>
              </a:rPr>
              <a:t>3.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9735" y="2824906"/>
            <a:ext cx="2144910" cy="5850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Conditional branches (</a:t>
            </a:r>
            <a:r>
              <a:rPr b="0" sz="975" i="0" u="none">
                <a:solidFill>
                  <a:srgbClr val="475569"/>
                </a:solidFill>
                <a:latin typeface="Inter"/>
              </a:rPr>
              <a:t>if/elif</a:t>
            </a:r>
            <a:r>
              <a:rPr b="0" sz="975" i="0" u="none">
                <a:solidFill>
                  <a:srgbClr val="475569"/>
                </a:solidFill>
                <a:latin typeface="Inter"/>
              </a:rPr>
              <a:t>) filter anomalies and categorize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8793" y="4171950"/>
            <a:ext cx="225215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1D4ED8"/>
                </a:solidFill>
                <a:latin typeface="Poppins SemiBold"/>
              </a:rPr>
              <a:t>4. 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2416" y="4476750"/>
            <a:ext cx="2144910" cy="575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Structured string &amp; boolean logic feed decision trees and NLP preprocessors.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Data Science Pipeline Connection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91580" y="3695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64260" y="3695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36941" y="3695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09621" y="3695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2266950"/>
            <a:ext cx="7810500" cy="12066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F172A"/>
                </a:solidFill>
                <a:latin typeface="Poppins"/>
              </a:rPr>
              <a:t>Questions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1438275"/>
            <a:ext cx="71437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Lecture 2 establishes the core primitives for all Natural Language Processing (NLP), data validation, and control structures in Python.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2466975"/>
            <a:ext cx="71437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b="0" sz="1275" i="1" u="none">
                <a:solidFill>
                  <a:srgbClr val="166534"/>
                </a:solidFill>
                <a:latin typeface="Inter"/>
              </a:rPr>
              <a:t>"اللَّهُمَّ إِنِّي أَسْأَلُكَ عِلْمًا نَافِعًا، وَرِزْقًا طَيِّبًا، وَعَمَلاً مُتَقَبَّلاً"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5" y="2775049"/>
            <a:ext cx="71437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b="0" sz="1275" i="1" u="none">
                <a:solidFill>
                  <a:srgbClr val="166534"/>
                </a:solidFill>
                <a:latin typeface="Inter"/>
              </a:rPr>
              <a:t>"O Allah, I ask You for beneficial knowledge, good provision, and acceptable deeds."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0187" y="3102173"/>
            <a:ext cx="1571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5803D"/>
                </a:solidFill>
                <a:latin typeface="Inter SemiBold"/>
              </a:rPr>
              <a:t>— Sunan Ibn Majah 925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362" y="35528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14737" y="3553122"/>
            <a:ext cx="6057900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https://engineering.freeagent.com/wp-content/uploads/2021/03/chris-ried-ieic5Tq8YMk-unsplash.jpg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4737" y="3792587"/>
            <a:ext cx="60579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engineering.freeagent.com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