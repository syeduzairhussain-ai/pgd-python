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85800"/>
            <a:ext cx="2011680" cy="384048"/>
          </a:xfrm>
          <a:prstGeom prst="roundRect">
            <a:avLst/>
          </a:prstGeom>
          <a:solidFill>
            <a:srgbClr val="E5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66FDB"/>
                </a:solidFill>
              </a:defRPr>
            </a:pPr>
            <a:r>
              <a:t>PYTHON • 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315B"/>
                </a:solidFill>
                <a:latin typeface="Aptos Display"/>
              </a:defRPr>
            </a:pPr>
            <a:r>
              <a:t>Lists &amp; Tuples</a:t>
            </a:r>
          </a:p>
          <a:p>
            <a:pPr>
              <a:defRPr sz="2600" b="1">
                <a:solidFill>
                  <a:srgbClr val="6F4FC9"/>
                </a:solidFill>
              </a:defRPr>
            </a:pPr>
            <a:r>
              <a:t>Python Built-in Collections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5577840" cy="118872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73152" cy="118872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84048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Instructor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Syed Uzair Hussain • NED Academy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3657600"/>
            <a:ext cx="4754880" cy="118872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3657600"/>
            <a:ext cx="73152" cy="1188720"/>
          </a:xfrm>
          <a:prstGeom prst="rect">
            <a:avLst/>
          </a:prstGeom>
          <a:solidFill>
            <a:srgbClr val="6F4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3840480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Focus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Lists • Tuples • Methods •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Learning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166360" cy="155448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" cy="155448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600200"/>
            <a:ext cx="4709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Create, access, modify and slice lists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166360" cy="155448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73152" cy="1554480"/>
          </a:xfrm>
          <a:prstGeom prst="rect">
            <a:avLst/>
          </a:prstGeom>
          <a:solidFill>
            <a:srgbClr val="6F4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600200"/>
            <a:ext cx="4709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use common list methods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83280"/>
            <a:ext cx="5166360" cy="155448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73152" cy="1554480"/>
          </a:xfrm>
          <a:prstGeom prst="rect">
            <a:avLst/>
          </a:prstGeom>
          <a:solidFill>
            <a:srgbClr val="22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566160"/>
            <a:ext cx="4709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understand tuples and immutability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383280"/>
            <a:ext cx="5166360" cy="155448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3383280"/>
            <a:ext cx="73152" cy="155448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3566160"/>
            <a:ext cx="4709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solve beginner practice problems.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Why Do We Need Lists?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241280" cy="256032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73152" cy="256032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691639"/>
            <a:ext cx="97840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KEY IDEA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Instead of creating marks1, marks2, marks3 ... for many students, one list can store all values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Creating a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marks = [94.4, 87.5, 76.0, 91.2]</a:t>
            </a:r>
            <a:br/>
            <a:r>
              <a:t>print(marks)</a:t>
            </a:r>
            <a:br/>
            <a:r>
              <a:t>print(type(marks))</a:t>
            </a:r>
            <a:br/>
            <a:r>
              <a:t>print(len(marks))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Indexing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241280" cy="256032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73152" cy="256032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691639"/>
            <a:ext cx="97840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KEY IDEA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Python uses zero-based indexing. The first item is index 0. Negative indexing can access items from the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Lists Can Store Mixed Data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241280" cy="256032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73152" cy="256032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691639"/>
            <a:ext cx="97840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KEY IDEA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A Python list may contain strings, integers, floats and other values in the same collection.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Strings vs Lists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166360" cy="155448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" cy="155448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600200"/>
            <a:ext cx="4709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Both are ordered and support indexing/slicing. Strings are immutable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166360" cy="155448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73152" cy="1554480"/>
          </a:xfrm>
          <a:prstGeom prst="rect">
            <a:avLst/>
          </a:prstGeom>
          <a:solidFill>
            <a:srgbClr val="6F4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600200"/>
            <a:ext cx="4709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lists are mutable.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Mutability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student = ['Ali', 92]</a:t>
            </a:r>
            <a:br/>
            <a:r>
              <a:t>student[0] = 'Sara'</a:t>
            </a:r>
            <a:br/>
            <a:r>
              <a:t>print(student)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Slicing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marks = [94, 87, 76, 91, 82]</a:t>
            </a:r>
            <a:br/>
            <a:r>
              <a:t>print(marks[1:4])</a:t>
            </a:r>
            <a:br/>
            <a:r>
              <a:t>print(marks[:3])</a:t>
            </a:r>
            <a:br/>
            <a:r>
              <a:t>print(marks[2:])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Negative Index Slicing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nums = [10, 20, 30, 40, 50]</a:t>
            </a:r>
            <a:br/>
            <a:r>
              <a:t>print(nums[-4:-1])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Method: append()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nums = [2, 1, 3]</a:t>
            </a:r>
            <a:br/>
            <a:r>
              <a:t>nums.append(4)</a:t>
            </a:r>
            <a:br/>
            <a:r>
              <a:t>print(nums)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Method: sort()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nums = [3, 1, 2]</a:t>
            </a:r>
            <a:br/>
            <a:r>
              <a:t>nums.sort()</a:t>
            </a:r>
            <a:br/>
            <a:r>
              <a:t>print(nums)</a:t>
            </a:r>
            <a:br/>
            <a:r>
              <a:t>nums.sort(reverse=True)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Method: reverse()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nums = [1, 2, 3]</a:t>
            </a:r>
            <a:br/>
            <a:r>
              <a:t>nums.reverse()</a:t>
            </a:r>
            <a:br/>
            <a:r>
              <a:t>print(nums)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Method: insert()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nums = [2, 1, 3]</a:t>
            </a:r>
            <a:br/>
            <a:r>
              <a:t>nums.insert(1, 5)</a:t>
            </a:r>
            <a:br/>
            <a:r>
              <a:t>print(nums)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Method: remove()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nums = [2, 1, 1, 3]</a:t>
            </a:r>
            <a:br/>
            <a:r>
              <a:t>nums.remove(1)</a:t>
            </a:r>
            <a:br/>
            <a:r>
              <a:t>print(nums)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Method: pop()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nums = [2, 1, 3]</a:t>
            </a:r>
            <a:br/>
            <a:r>
              <a:t>removed = nums.pop(2)</a:t>
            </a:r>
            <a:br/>
            <a:r>
              <a:t>print(nums)</a:t>
            </a:r>
            <a:br/>
            <a:r>
              <a:t>print(removed)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Method: copy()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a = [1, 2, 3]</a:t>
            </a:r>
            <a:br/>
            <a:r>
              <a:t>b = a.copy()</a:t>
            </a:r>
            <a:br/>
            <a:r>
              <a:t>b.reverse()</a:t>
            </a:r>
            <a:br/>
            <a:r>
              <a:t>print(a)</a:t>
            </a:r>
            <a:br/>
            <a:r>
              <a:t>print(b)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Method: count()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nums = [1, 2, 1, 3, 1]</a:t>
            </a:r>
            <a:br/>
            <a:r>
              <a:t>print(nums.count(1))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Methods — 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514600" cy="150876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73152" cy="150876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54480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append()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add at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371600"/>
            <a:ext cx="2514600" cy="150876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20440" y="1371600"/>
            <a:ext cx="73152" cy="1508760"/>
          </a:xfrm>
          <a:prstGeom prst="rect">
            <a:avLst/>
          </a:prstGeom>
          <a:solidFill>
            <a:srgbClr val="6F4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554480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sort()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order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2514600" cy="150876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73152" cy="1508760"/>
          </a:xfrm>
          <a:prstGeom prst="rect">
            <a:avLst/>
          </a:prstGeom>
          <a:solidFill>
            <a:srgbClr val="22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554480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reverse()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reverse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371600"/>
            <a:ext cx="2514600" cy="150876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89720" y="1371600"/>
            <a:ext cx="73152" cy="150876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5752" y="1554480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insert()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add at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37560"/>
            <a:ext cx="2514600" cy="150876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37560"/>
            <a:ext cx="73152" cy="150876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520440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remove()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delete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337560"/>
            <a:ext cx="2514600" cy="150876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0440" y="3337560"/>
            <a:ext cx="73152" cy="1508760"/>
          </a:xfrm>
          <a:prstGeom prst="rect">
            <a:avLst/>
          </a:prstGeom>
          <a:solidFill>
            <a:srgbClr val="6F4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3520440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pop()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delete by index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337560"/>
            <a:ext cx="2514600" cy="150876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3337560"/>
            <a:ext cx="73152" cy="1508760"/>
          </a:xfrm>
          <a:prstGeom prst="rect">
            <a:avLst/>
          </a:prstGeom>
          <a:solidFill>
            <a:srgbClr val="22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3520440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copy()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duplicate 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3337560"/>
            <a:ext cx="2514600" cy="150876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20" y="3337560"/>
            <a:ext cx="73152" cy="150876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45752" y="3520440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count()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count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Introduction to Tuples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241280" cy="256032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73152" cy="256032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691639"/>
            <a:ext cx="9784080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KEY IDEA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A tuple is an ordered collection similar to a list, but it is immutable.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Creating &amp; Accessing Tuples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tup = (2, 1, 3)</a:t>
            </a:r>
            <a:br/>
            <a:r>
              <a:t>print(tup)</a:t>
            </a:r>
            <a:br/>
            <a:r>
              <a:t>print(tup[0])</a:t>
            </a:r>
            <a:br/>
            <a:r>
              <a:t>print(type(tup))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Tuple Immutability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tup = (2, 1, 3)</a:t>
            </a:r>
            <a:br/>
            <a:r>
              <a:t>tup[0] = 5   # TypeError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Empty &amp; Single-Element Tuples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empty = ()</a:t>
            </a:r>
            <a:br/>
            <a:r>
              <a:t>one = (1,)</a:t>
            </a:r>
            <a:br/>
            <a:r>
              <a:t>not_tuple = (1)</a:t>
            </a:r>
            <a:br/>
            <a:r>
              <a:t>print(type(one))</a:t>
            </a:r>
            <a:br/>
            <a:r>
              <a:t>print(type(not_tuple))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Tuple Slicing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tup = (10, 20, 30, 40, 50)</a:t>
            </a:r>
            <a:br/>
            <a:r>
              <a:t>print(tup[1:4])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Tuple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310896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9692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tup = (1, 2, 1, 3, 1)</a:t>
            </a:r>
            <a:br/>
            <a:r>
              <a:t>print(tup.index(3))</a:t>
            </a:r>
            <a:br/>
            <a:r>
              <a:t>print(tup.count(1))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List vs Tuple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303520" cy="320040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320040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00200"/>
            <a:ext cx="4846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LIST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Mutable</a:t>
            </a:r>
            <a:br/>
            <a:r>
              <a:t>Square brackets [ ]</a:t>
            </a:r>
            <a:br/>
            <a:r>
              <a:t>Can add/remove/change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12080" cy="320040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73152" cy="3200400"/>
          </a:xfrm>
          <a:prstGeom prst="rect">
            <a:avLst/>
          </a:prstGeom>
          <a:solidFill>
            <a:srgbClr val="6F4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00200"/>
            <a:ext cx="4754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TUPLE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Immutable</a:t>
            </a:r>
            <a:br/>
            <a:r>
              <a:t>Usually parentheses ( )</a:t>
            </a:r>
            <a:br/>
            <a:r>
              <a:t>Fixed after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Practice 1 — Favorite Movies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384048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737360"/>
            <a:ext cx="9692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movies = []</a:t>
            </a:r>
            <a:br/>
            <a:r>
              <a:t>movies.append(input("Enter 1st movie: "))</a:t>
            </a:r>
            <a:br/>
            <a:r>
              <a:t>movies.append(input("Enter 2nd movie: "))</a:t>
            </a:r>
            <a:br/>
            <a:r>
              <a:t>movies.append(input("Enter 3rd movie: "))</a:t>
            </a:r>
            <a:br/>
            <a:r>
              <a:t>print(movies)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Practice 2 — Palindrome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38912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691640"/>
            <a:ext cx="9692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values = [1, 2, 3, 2, 1]</a:t>
            </a:r>
            <a:br/>
            <a:r>
              <a:t>copy_values = values.copy()</a:t>
            </a:r>
            <a:br/>
            <a:r>
              <a:t>copy_values.reverse()</a:t>
            </a:r>
            <a:br/>
            <a:br/>
            <a:r>
              <a:t>if values == copy_values:</a:t>
            </a:r>
            <a:br/>
            <a:r>
              <a:t>    print('Palindrome')</a:t>
            </a:r>
            <a:br/>
            <a:r>
              <a:t>else:</a:t>
            </a:r>
            <a:br/>
            <a:r>
              <a:t>    print('Not Palindrome')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Practice 3 — Grades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389120"/>
          </a:xfrm>
          <a:prstGeom prst="roundRect">
            <a:avLst/>
          </a:prstGeom>
          <a:solidFill>
            <a:srgbClr val="1C222D"/>
          </a:solidFill>
          <a:ln>
            <a:solidFill>
              <a:srgbClr val="3C4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691640"/>
            <a:ext cx="9692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1ECFF"/>
                </a:solidFill>
                <a:latin typeface="Courier New"/>
              </a:defRPr>
            </a:pPr>
            <a:r>
              <a:t>grades = ('C', 'D', 'A', 'A', 'B', 'B', 'A')</a:t>
            </a:r>
            <a:br/>
            <a:r>
              <a:t>print(grades.count('A'))</a:t>
            </a:r>
            <a:br/>
            <a:br/>
            <a:r>
              <a:t>grades_list = list(grades)</a:t>
            </a:r>
            <a:br/>
            <a:r>
              <a:t>grades_list.sort()</a:t>
            </a:r>
            <a:br/>
            <a:r>
              <a:t>print(grades_list)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15B"/>
                </a:solidFill>
                <a:latin typeface="Aptos Display"/>
              </a:defRPr>
            </a:pPr>
            <a:r>
              <a:t>Lecture Recap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383280" cy="329184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" cy="3291840"/>
          </a:xfrm>
          <a:prstGeom prst="rect">
            <a:avLst/>
          </a:prstGeom>
          <a:solidFill>
            <a:srgbClr val="36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600200"/>
            <a:ext cx="29260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LISTS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Ordered + mutable</a:t>
            </a:r>
            <a:br/>
            <a:r>
              <a:t>Indexing &amp; slicing</a:t>
            </a:r>
            <a:br/>
            <a:r>
              <a:t>Rich set of 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417320"/>
            <a:ext cx="3383280" cy="329184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7408" y="1417320"/>
            <a:ext cx="73152" cy="3291840"/>
          </a:xfrm>
          <a:prstGeom prst="rect">
            <a:avLst/>
          </a:prstGeom>
          <a:solidFill>
            <a:srgbClr val="6F4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00200"/>
            <a:ext cx="29260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TUPLES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Ordered + immutable</a:t>
            </a:r>
            <a:br/>
            <a:r>
              <a:t>Indexing &amp; slicing</a:t>
            </a:r>
            <a:br/>
            <a:r>
              <a:t>index() and count()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417320"/>
            <a:ext cx="3383280" cy="3291840"/>
          </a:xfrm>
          <a:prstGeom prst="roundRect">
            <a:avLst/>
          </a:prstGeom>
          <a:solidFill>
            <a:srgbClr val="F5F8FD"/>
          </a:solidFill>
          <a:ln>
            <a:solidFill>
              <a:srgbClr val="DA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1856" y="1417320"/>
            <a:ext cx="73152" cy="3291840"/>
          </a:xfrm>
          <a:prstGeom prst="rect">
            <a:avLst/>
          </a:prstGeom>
          <a:solidFill>
            <a:srgbClr val="22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600200"/>
            <a:ext cx="29260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315B"/>
                </a:solidFill>
                <a:latin typeface="Aptos"/>
              </a:defRPr>
            </a:pPr>
            <a:r>
              <a:t>PRACTICE</a:t>
            </a:r>
          </a:p>
          <a:p>
            <a:pPr>
              <a:spcBef>
                <a:spcPts val="600"/>
              </a:spcBef>
              <a:defRPr sz="1150">
                <a:solidFill>
                  <a:srgbClr val="283243"/>
                </a:solidFill>
                <a:latin typeface="Aptos"/>
              </a:defRPr>
            </a:pPr>
            <a:r>
              <a:t>Movies list</a:t>
            </a:r>
            <a:br/>
            <a:r>
              <a:t>Palindrome check</a:t>
            </a:r>
            <a:br/>
            <a:r>
              <a:t>Grades count &amp; sort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2"/>
                </a:solidFill>
                <a:latin typeface="Aptos"/>
              </a:defRPr>
            </a:pPr>
            <a:r>
              <a:t>NED Academy  •  Python  •  Lists &amp; Tuples                                     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